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0A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80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3E1EE8-76DB-4C9D-E76A-EDA5BAFFF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097B56-75BB-02C0-8ACA-080AB5512B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E5B7C1-0C44-0F84-5D3B-75A96396E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6E84-BC9D-4EE9-9198-D52ADEF0FD9C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2BCC2F-C71E-3B2B-5048-A057BF39E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EFABFD-B99F-6362-E7EA-1F8131990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8930-2E74-49F4-B223-0264DEA705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7224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89E75-2BAB-B31E-411A-A645FF58D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C8BD51-CDBD-BB6B-5D48-B87252DE7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C07F0D-6B44-1902-151C-579B036C3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6E84-BC9D-4EE9-9198-D52ADEF0FD9C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1D84A7-B803-4108-BE3A-FB4FD24E0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766F98-7A44-F705-E16B-913CF52ED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8930-2E74-49F4-B223-0264DEA705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824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C89E07-486D-E179-A5DE-0B7DADE53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1FAAA64-DAC2-E525-64AF-88A920D81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286410-E10E-3C19-EC3A-C95AA5452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6E84-BC9D-4EE9-9198-D52ADEF0FD9C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FB8F66-57F8-3619-4138-B5E4616B0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29D28B-F0C7-FDF1-E887-3DBAF9D41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8930-2E74-49F4-B223-0264DEA705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3914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F6FEF2-8CAA-9F4E-CC71-0B84A7774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C802D0-7A11-AD58-BE72-3727EFF2C7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75C500F-6726-936B-5CCA-2805709429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5885DC8-8305-BC59-646B-51B49D558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6E84-BC9D-4EE9-9198-D52ADEF0FD9C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E5EF7A-858C-83B1-8555-CAED90E8E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F31614-3695-E019-2460-8CEE61084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8930-2E74-49F4-B223-0264DEA705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4868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30D96-73B7-9B43-1F78-ED34B9BDB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E66538-C33B-3938-46F9-101A0E9B8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5C60D1B-B8EB-7032-FA30-BB0E54C59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51665E0-AB4F-3E6E-9E84-67F45B1FE0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BC39607-427D-EDEF-D93C-E4EF99EDE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A846587-9B2F-0B87-5F93-4EA2A9D11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6E84-BC9D-4EE9-9198-D52ADEF0FD9C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29DEFD6-0AA6-D373-E1DF-D9620C5CE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605E938-5D31-A290-229C-BFEBE10F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8930-2E74-49F4-B223-0264DEA705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5646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FC93A2-E114-9F68-9835-6B9533585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7FAA048-4014-8AA9-1462-75C42187C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6E84-BC9D-4EE9-9198-D52ADEF0FD9C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6AAD80-8ECE-565D-7701-ACD37A6F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1E448AD-C7A5-2817-1BE4-2B720E384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8930-2E74-49F4-B223-0264DEA705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4899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CD32D68-F29B-B434-6730-DE8B058C4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6E84-BC9D-4EE9-9198-D52ADEF0FD9C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DEAB34-096A-0380-EAA5-DDB33D4A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CA6892-0393-5086-99B6-F573ECB88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8930-2E74-49F4-B223-0264DEA705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4514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86DA79-9220-CDE8-78AA-D4473560B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42D855-8FBF-0D5C-6A76-8A875C338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15D165-3805-FCF0-772B-5648907AB8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6F3D732-2E35-67F0-CF14-992F2E128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6E84-BC9D-4EE9-9198-D52ADEF0FD9C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E02716-535B-4B2B-E2FE-C026E04FC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8E097B-9ACD-8349-E825-288E2AE35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8930-2E74-49F4-B223-0264DEA705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6777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8D5FFD-97E9-E9AA-1FB8-9BA7CB100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86136E1-0097-AAE7-8E91-D081A4A84C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054D5AE-E889-A9E7-5463-507A3482E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2B1D83-D617-E25C-21B4-4FEDC4718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6E84-BC9D-4EE9-9198-D52ADEF0FD9C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8929AD-502F-5A72-1587-D3E957A36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AC1D5C-C5A6-2807-6633-54B4B575C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8930-2E74-49F4-B223-0264DEA705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4187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1CD668-1032-C5E7-4C24-7AD032C6D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BED380E-D885-6A19-9B30-B35B616EF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AE0178-7863-BF82-FE6B-A40644EC5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6E84-BC9D-4EE9-9198-D52ADEF0FD9C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E0E8FC-D829-5954-867D-29BA91119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21600E-A9A9-8702-7899-12572D78F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8930-2E74-49F4-B223-0264DEA705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9433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570817B-57CA-19DA-6E4D-036D3930F2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16AB09-3BB8-D90C-A6F4-D07B48FC0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06CA83-9426-8607-9FCD-FEF9005BC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6E84-BC9D-4EE9-9198-D52ADEF0FD9C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BADB7D-54AB-4BF9-0D31-2E9422D59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E80AC7-D50C-D16A-4853-215A2C841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8930-2E74-49F4-B223-0264DEA705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66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046AEA7-8F91-2B24-AFE4-3328F31DC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BDAA1A-A545-11B8-C56A-C74003A38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547DAB-0438-9195-D40E-59CD4DAC9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706E84-BC9D-4EE9-9198-D52ADEF0FD9C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4DFA63-1A11-7A62-1DD7-9B0CBCF409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48DA50-F9C5-6C28-1EEF-74761ED710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98930-2E74-49F4-B223-0264DEA705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1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andidomor/Mestrado-Algoritmos-Projeto1/tree/main/Princip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Agrupar 14">
            <a:extLst>
              <a:ext uri="{FF2B5EF4-FFF2-40B4-BE49-F238E27FC236}">
                <a16:creationId xmlns:a16="http://schemas.microsoft.com/office/drawing/2014/main" id="{3184CA0B-8E0A-39B7-6823-0C97B424D8AB}"/>
              </a:ext>
            </a:extLst>
          </p:cNvPr>
          <p:cNvGrpSpPr/>
          <p:nvPr/>
        </p:nvGrpSpPr>
        <p:grpSpPr>
          <a:xfrm>
            <a:off x="4739781" y="3585812"/>
            <a:ext cx="7452219" cy="3272188"/>
            <a:chOff x="4739781" y="3585812"/>
            <a:chExt cx="7452219" cy="3272188"/>
          </a:xfrm>
        </p:grpSpPr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9434BECE-5E74-3497-F6CF-669E3E696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92514" y="4013377"/>
              <a:ext cx="6699486" cy="2844623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57B448D0-2707-E9F1-2830-4C03C81B50D9}"/>
                </a:ext>
              </a:extLst>
            </p:cNvPr>
            <p:cNvSpPr/>
            <p:nvPr/>
          </p:nvSpPr>
          <p:spPr>
            <a:xfrm>
              <a:off x="4739781" y="4013377"/>
              <a:ext cx="1104550" cy="284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F05C5C81-9B6B-FAC1-6EE7-10EF3F401347}"/>
                </a:ext>
              </a:extLst>
            </p:cNvPr>
            <p:cNvSpPr/>
            <p:nvPr/>
          </p:nvSpPr>
          <p:spPr>
            <a:xfrm>
              <a:off x="5292056" y="3585812"/>
              <a:ext cx="4453856" cy="10784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D624AB8-D923-33C4-9FEE-3D9225E7D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2906" y="1566979"/>
            <a:ext cx="9949344" cy="2501681"/>
          </a:xfrm>
          <a:ln w="5715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pt-BR" sz="4800" b="1" dirty="0"/>
              <a:t>Projeto 1 - Métodos de Ordenação</a:t>
            </a:r>
            <a:br>
              <a:rPr lang="pt-BR" sz="4800" dirty="0"/>
            </a:br>
            <a:r>
              <a:rPr lang="pt-BR" sz="2000" dirty="0"/>
              <a:t>Mestrado Profissional em Computação Aplicada – Mackenzie</a:t>
            </a:r>
            <a:br>
              <a:rPr lang="pt-BR" sz="2000" dirty="0"/>
            </a:br>
            <a:r>
              <a:rPr lang="pt-BR" sz="2000" dirty="0"/>
              <a:t>Disciplina – Algoritmos e Programação</a:t>
            </a:r>
            <a:br>
              <a:rPr lang="pt-BR" sz="2000" dirty="0"/>
            </a:br>
            <a:endParaRPr lang="pt-BR" sz="4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13BA62-DB81-8DFF-EB44-42442F75D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9384" y="4463140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pt-BR" b="1" dirty="0"/>
              <a:t>Professora:</a:t>
            </a:r>
            <a:r>
              <a:rPr lang="pt-BR" dirty="0"/>
              <a:t> Dra. Valéria </a:t>
            </a:r>
            <a:r>
              <a:rPr lang="pt-BR" dirty="0" err="1"/>
              <a:t>Farinazzo</a:t>
            </a:r>
            <a:r>
              <a:rPr lang="pt-BR" dirty="0"/>
              <a:t> Martins</a:t>
            </a:r>
          </a:p>
          <a:p>
            <a:pPr algn="l"/>
            <a:r>
              <a:rPr lang="pt-BR" b="1" dirty="0"/>
              <a:t>Aluno:</a:t>
            </a:r>
            <a:r>
              <a:rPr lang="pt-BR" dirty="0"/>
              <a:t> Cândido Francisco Moreira</a:t>
            </a:r>
          </a:p>
          <a:p>
            <a:pPr algn="l"/>
            <a:r>
              <a:rPr lang="pt-BR" b="1" dirty="0"/>
              <a:t>RA: </a:t>
            </a:r>
            <a:r>
              <a:rPr lang="pt-BR" dirty="0"/>
              <a:t>10779363</a:t>
            </a:r>
            <a:endParaRPr lang="pt-BR" b="0" dirty="0">
              <a:effectLst/>
            </a:endParaRPr>
          </a:p>
          <a:p>
            <a:pPr algn="l"/>
            <a:r>
              <a:rPr lang="pt-BR" b="1" dirty="0"/>
              <a:t>Período:</a:t>
            </a:r>
            <a:r>
              <a:rPr lang="pt-BR" dirty="0"/>
              <a:t> 1º Semestre de 2026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62E856D-81F6-AF42-AE3A-65AB7D8E5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398060"/>
          </a:xfrm>
          <a:prstGeom prst="rect">
            <a:avLst/>
          </a:prstGeom>
        </p:spPr>
      </p:pic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A5598FE3-FC3A-E82C-7FD3-8142C99B0F48}"/>
              </a:ext>
            </a:extLst>
          </p:cNvPr>
          <p:cNvCxnSpPr/>
          <p:nvPr/>
        </p:nvCxnSpPr>
        <p:spPr>
          <a:xfrm>
            <a:off x="3699545" y="3665989"/>
            <a:ext cx="5203971" cy="0"/>
          </a:xfrm>
          <a:prstGeom prst="line">
            <a:avLst/>
          </a:prstGeom>
          <a:ln w="38100">
            <a:solidFill>
              <a:srgbClr val="EA0A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919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E3EAA74-90B2-4087-0F4E-7817C0929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98060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749E4C3A-3897-3266-C722-DCC879D9460B}"/>
              </a:ext>
            </a:extLst>
          </p:cNvPr>
          <p:cNvGrpSpPr/>
          <p:nvPr/>
        </p:nvGrpSpPr>
        <p:grpSpPr>
          <a:xfrm>
            <a:off x="4739781" y="3585812"/>
            <a:ext cx="7452219" cy="3272188"/>
            <a:chOff x="4739781" y="3585812"/>
            <a:chExt cx="7452219" cy="3272188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17553A5D-6DBE-29A4-4D54-29D072C29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2514" y="4013377"/>
              <a:ext cx="6699486" cy="2844623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F3E43AAC-D9FA-3D05-F243-151BE13D753B}"/>
                </a:ext>
              </a:extLst>
            </p:cNvPr>
            <p:cNvSpPr/>
            <p:nvPr/>
          </p:nvSpPr>
          <p:spPr>
            <a:xfrm>
              <a:off x="4739781" y="4013377"/>
              <a:ext cx="1104550" cy="284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DF364850-D584-0DFF-CD3B-EA480C422F17}"/>
                </a:ext>
              </a:extLst>
            </p:cNvPr>
            <p:cNvSpPr/>
            <p:nvPr/>
          </p:nvSpPr>
          <p:spPr>
            <a:xfrm>
              <a:off x="5292056" y="3585812"/>
              <a:ext cx="4453856" cy="10784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3" name="Rectangle 1">
            <a:extLst>
              <a:ext uri="{FF2B5EF4-FFF2-40B4-BE49-F238E27FC236}">
                <a16:creationId xmlns:a16="http://schemas.microsoft.com/office/drawing/2014/main" id="{4312F4E0-DB52-84A2-7087-BC60DFD24D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9720" y="2292103"/>
            <a:ext cx="105156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2400" b="1" dirty="0">
                <a:ea typeface="+mj-ea"/>
                <a:cs typeface="+mj-cs"/>
              </a:rPr>
              <a:t>Problema: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dirty="0"/>
              <a:t>A escalabilidade computacional depende intrinsecamente da escolha de métodos de ordenação eficientes para a tarefa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b="1" dirty="0">
              <a:ea typeface="+mj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2400" b="1" dirty="0">
                <a:ea typeface="+mj-ea"/>
                <a:cs typeface="+mj-cs"/>
              </a:rPr>
              <a:t>Objetivo Central: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dirty="0">
                <a:ea typeface="+mj-ea"/>
                <a:cs typeface="+mj-cs"/>
              </a:rPr>
              <a:t> Confrontar as premissas teóricas da notação </a:t>
            </a:r>
            <a:r>
              <a:rPr lang="pt-BR" altLang="pt-BR" dirty="0" err="1">
                <a:ea typeface="+mj-ea"/>
                <a:cs typeface="+mj-cs"/>
              </a:rPr>
              <a:t>Big-O</a:t>
            </a:r>
            <a:r>
              <a:rPr lang="pt-BR" altLang="pt-BR" dirty="0">
                <a:ea typeface="+mj-ea"/>
                <a:cs typeface="+mj-cs"/>
              </a:rPr>
              <a:t> com o desempenho prático computacional de algoritmos clássicos.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b="1" dirty="0">
              <a:ea typeface="+mj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2400" b="1" dirty="0">
                <a:ea typeface="+mj-ea"/>
                <a:cs typeface="+mj-cs"/>
              </a:rPr>
              <a:t>Algoritmos Avaliados: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dirty="0">
                <a:ea typeface="+mj-ea"/>
                <a:cs typeface="+mj-cs"/>
              </a:rPr>
              <a:t> Bubble </a:t>
            </a:r>
            <a:r>
              <a:rPr lang="pt-BR" altLang="pt-BR" dirty="0" err="1">
                <a:ea typeface="+mj-ea"/>
                <a:cs typeface="+mj-cs"/>
              </a:rPr>
              <a:t>Sort</a:t>
            </a:r>
            <a:r>
              <a:rPr lang="pt-BR" altLang="pt-BR" dirty="0">
                <a:ea typeface="+mj-ea"/>
                <a:cs typeface="+mj-cs"/>
              </a:rPr>
              <a:t> (Padrão e Otimizado), </a:t>
            </a:r>
            <a:r>
              <a:rPr lang="pt-BR" altLang="pt-BR" dirty="0" err="1">
                <a:ea typeface="+mj-ea"/>
                <a:cs typeface="+mj-cs"/>
              </a:rPr>
              <a:t>Selection</a:t>
            </a:r>
            <a:r>
              <a:rPr lang="pt-BR" altLang="pt-BR" dirty="0">
                <a:ea typeface="+mj-ea"/>
                <a:cs typeface="+mj-cs"/>
              </a:rPr>
              <a:t> </a:t>
            </a:r>
            <a:r>
              <a:rPr lang="pt-BR" altLang="pt-BR" dirty="0" err="1">
                <a:ea typeface="+mj-ea"/>
                <a:cs typeface="+mj-cs"/>
              </a:rPr>
              <a:t>Sort</a:t>
            </a:r>
            <a:r>
              <a:rPr lang="pt-BR" altLang="pt-BR" dirty="0">
                <a:ea typeface="+mj-ea"/>
                <a:cs typeface="+mj-cs"/>
              </a:rPr>
              <a:t>, </a:t>
            </a:r>
            <a:r>
              <a:rPr lang="pt-BR" altLang="pt-BR" dirty="0" err="1">
                <a:ea typeface="+mj-ea"/>
                <a:cs typeface="+mj-cs"/>
              </a:rPr>
              <a:t>Insertion</a:t>
            </a:r>
            <a:r>
              <a:rPr lang="pt-BR" altLang="pt-BR" dirty="0">
                <a:ea typeface="+mj-ea"/>
                <a:cs typeface="+mj-cs"/>
              </a:rPr>
              <a:t> </a:t>
            </a:r>
            <a:r>
              <a:rPr lang="pt-BR" altLang="pt-BR" dirty="0" err="1">
                <a:ea typeface="+mj-ea"/>
                <a:cs typeface="+mj-cs"/>
              </a:rPr>
              <a:t>Sort</a:t>
            </a:r>
            <a:r>
              <a:rPr lang="pt-BR" altLang="pt-BR" dirty="0">
                <a:ea typeface="+mj-ea"/>
                <a:cs typeface="+mj-cs"/>
              </a:rPr>
              <a:t>, Merge </a:t>
            </a:r>
            <a:r>
              <a:rPr lang="pt-BR" altLang="pt-BR" dirty="0" err="1">
                <a:ea typeface="+mj-ea"/>
                <a:cs typeface="+mj-cs"/>
              </a:rPr>
              <a:t>Sort</a:t>
            </a:r>
            <a:r>
              <a:rPr lang="pt-BR" altLang="pt-BR" dirty="0">
                <a:ea typeface="+mj-ea"/>
                <a:cs typeface="+mj-cs"/>
              </a:rPr>
              <a:t> e Quick </a:t>
            </a:r>
            <a:r>
              <a:rPr lang="pt-BR" altLang="pt-BR" dirty="0" err="1">
                <a:ea typeface="+mj-ea"/>
                <a:cs typeface="+mj-cs"/>
              </a:rPr>
              <a:t>Sort</a:t>
            </a:r>
            <a:r>
              <a:rPr lang="pt-BR" altLang="pt-BR" dirty="0">
                <a:ea typeface="+mj-ea"/>
                <a:cs typeface="+mj-cs"/>
              </a:rPr>
              <a:t>.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B82AFBD7-E4E6-C87F-428F-AE45AA9FD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60" y="1162843"/>
            <a:ext cx="10515600" cy="1325563"/>
          </a:xfrm>
        </p:spPr>
        <p:txBody>
          <a:bodyPr>
            <a:normAutofit/>
          </a:bodyPr>
          <a:lstStyle/>
          <a:p>
            <a:r>
              <a:rPr lang="pt-BR" sz="2800" b="1" dirty="0">
                <a:latin typeface="+mn-lt"/>
              </a:rPr>
              <a:t>Projeto 01 - Métodos de Ordenação: Análise Empírica vs. Assintótica</a:t>
            </a:r>
          </a:p>
        </p:txBody>
      </p:sp>
    </p:spTree>
    <p:extLst>
      <p:ext uri="{BB962C8B-B14F-4D97-AF65-F5344CB8AC3E}">
        <p14:creationId xmlns:p14="http://schemas.microsoft.com/office/powerpoint/2010/main" val="3391238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F729C-7A7C-2957-DCC6-38F95F5C9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55F255F-612F-7918-D8BE-650ED992E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98060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198BEE25-EF3F-9F03-AA02-7A52876240A1}"/>
              </a:ext>
            </a:extLst>
          </p:cNvPr>
          <p:cNvGrpSpPr/>
          <p:nvPr/>
        </p:nvGrpSpPr>
        <p:grpSpPr>
          <a:xfrm>
            <a:off x="4739781" y="3585812"/>
            <a:ext cx="7452219" cy="3272188"/>
            <a:chOff x="4739781" y="3585812"/>
            <a:chExt cx="7452219" cy="3272188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33B38261-3753-7106-FB46-3F8A347BF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2514" y="4013377"/>
              <a:ext cx="6699486" cy="2844623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8F064888-9267-B22F-7788-28D5452F3F9A}"/>
                </a:ext>
              </a:extLst>
            </p:cNvPr>
            <p:cNvSpPr/>
            <p:nvPr/>
          </p:nvSpPr>
          <p:spPr>
            <a:xfrm>
              <a:off x="4739781" y="4013377"/>
              <a:ext cx="1104550" cy="284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F28FCA2A-D8FD-A856-29DF-4CC416BB23D7}"/>
                </a:ext>
              </a:extLst>
            </p:cNvPr>
            <p:cNvSpPr/>
            <p:nvPr/>
          </p:nvSpPr>
          <p:spPr>
            <a:xfrm>
              <a:off x="5292056" y="3585812"/>
              <a:ext cx="4453856" cy="10784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3" name="Rectangle 1">
            <a:extLst>
              <a:ext uri="{FF2B5EF4-FFF2-40B4-BE49-F238E27FC236}">
                <a16:creationId xmlns:a16="http://schemas.microsoft.com/office/drawing/2014/main" id="{D36F2968-2E9B-7C5D-412E-EF2E32A103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1540" y="2168992"/>
            <a:ext cx="105156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Ambiente de Execução: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Python 3.12.4 (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CPython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em Windows 11 Pro.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Processador i7-14700KF e 32 GB RAM (dimensionado para evitar paginação/swap).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Rigor Estatístico: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Medições </a:t>
            </a:r>
            <a:r>
              <a:rPr lang="pt-BR" altLang="pt-BR" sz="2000" dirty="0">
                <a:latin typeface="Google Sans Text"/>
              </a:rPr>
              <a:t>via </a:t>
            </a:r>
            <a:r>
              <a:rPr lang="pt-BR" altLang="pt-BR" sz="2000" dirty="0" err="1">
                <a:latin typeface="Google Sans Text"/>
              </a:rPr>
              <a:t>time.perf_counter</a:t>
            </a:r>
            <a:r>
              <a:rPr lang="pt-BR" altLang="pt-BR" sz="2000" dirty="0">
                <a:latin typeface="Google Sans Text"/>
              </a:rPr>
              <a:t>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latin typeface="Google Sans Text"/>
              </a:rPr>
              <a:t>Cada cenário foi executado 5 vezes (k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=5) de forma independente para extração de média e desvio padrão, mitigando ruídos de S.O.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Espaço de Busca (Tamanhos):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1.000, 10.000 e 100.000 elementos.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Padrões Topológicos (Cenários):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Distribuição Aleatória (Caso médio).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Estritamente Crescente (Melhor caso).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Estritamente Decrescente (Pior caso).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78466375-715D-204D-AC11-D4591CA77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60" y="1162843"/>
            <a:ext cx="10515600" cy="1325563"/>
          </a:xfrm>
        </p:spPr>
        <p:txBody>
          <a:bodyPr>
            <a:normAutofit/>
          </a:bodyPr>
          <a:lstStyle/>
          <a:p>
            <a:r>
              <a:rPr lang="pt-BR" sz="2800" b="1" dirty="0">
                <a:latin typeface="+mn-lt"/>
              </a:rPr>
              <a:t>Metodologia Experimental</a:t>
            </a:r>
          </a:p>
        </p:txBody>
      </p:sp>
    </p:spTree>
    <p:extLst>
      <p:ext uri="{BB962C8B-B14F-4D97-AF65-F5344CB8AC3E}">
        <p14:creationId xmlns:p14="http://schemas.microsoft.com/office/powerpoint/2010/main" val="838418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2F274-7D61-FEA2-F730-B29648AFA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765B3DD-DA1C-B5CB-C68F-48B3AA3D4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98060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8D982857-8F70-63FC-5BD6-DB9CB7FBB264}"/>
              </a:ext>
            </a:extLst>
          </p:cNvPr>
          <p:cNvGrpSpPr/>
          <p:nvPr/>
        </p:nvGrpSpPr>
        <p:grpSpPr>
          <a:xfrm>
            <a:off x="4739781" y="3585812"/>
            <a:ext cx="7452219" cy="3272188"/>
            <a:chOff x="4739781" y="3585812"/>
            <a:chExt cx="7452219" cy="3272188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FE0AAC0C-5289-5051-C32C-A45289FF2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2514" y="4013377"/>
              <a:ext cx="6699486" cy="2844623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F4D5371C-426B-4954-61F0-83357C82679D}"/>
                </a:ext>
              </a:extLst>
            </p:cNvPr>
            <p:cNvSpPr/>
            <p:nvPr/>
          </p:nvSpPr>
          <p:spPr>
            <a:xfrm>
              <a:off x="4739781" y="4013377"/>
              <a:ext cx="1104550" cy="284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1758C4E0-2FFC-90A1-462E-6D16E40D2FFC}"/>
                </a:ext>
              </a:extLst>
            </p:cNvPr>
            <p:cNvSpPr/>
            <p:nvPr/>
          </p:nvSpPr>
          <p:spPr>
            <a:xfrm>
              <a:off x="5292056" y="3585812"/>
              <a:ext cx="4453856" cy="10784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F32372FA-A117-4A4C-2F89-FA4EAE1A5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60" y="1162843"/>
            <a:ext cx="10515600" cy="1325563"/>
          </a:xfrm>
        </p:spPr>
        <p:txBody>
          <a:bodyPr>
            <a:normAutofit/>
          </a:bodyPr>
          <a:lstStyle/>
          <a:p>
            <a:r>
              <a:rPr lang="pt-BR" sz="2800" b="1" dirty="0">
                <a:latin typeface="+mn-lt"/>
              </a:rPr>
              <a:t>Resultados de Estresse (Carga de 100.000 elementos)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72F4B93-A171-671D-D91D-8E9D4B9FD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1891" y="2447890"/>
            <a:ext cx="8708217" cy="38434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9279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919C3-08E1-4A24-BFAA-E12F0EEF8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2F817A1-BBD5-D7A3-9B73-F63FE13C3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9806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2329B87F-06B9-9F92-16E7-F2BC84F5F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916" y="1503584"/>
            <a:ext cx="4205562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62C8C4D-5CCE-6E48-0B53-A2115CC3E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0925" y="1570609"/>
            <a:ext cx="4205563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B8C2658F-BF00-C442-78A5-2FF254252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9521" y="1553119"/>
            <a:ext cx="4205563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5B3FED5F-5207-9B05-0C35-F1660C7AB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916" y="3990072"/>
            <a:ext cx="4205563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37DD70D8-531A-D5F5-E853-845E1C643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0925" y="4049272"/>
            <a:ext cx="4205563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7EB1E8BA-2FB6-4A68-9A16-1D9F796F1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4934" y="4023584"/>
            <a:ext cx="4205563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6384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A95F9-8B61-9971-ADF2-9C86780D1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FE55F52-C509-2EA3-5625-FD121F41D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98060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552CBC2D-515E-F04E-8C4A-7FF25C61C35B}"/>
              </a:ext>
            </a:extLst>
          </p:cNvPr>
          <p:cNvGrpSpPr/>
          <p:nvPr/>
        </p:nvGrpSpPr>
        <p:grpSpPr>
          <a:xfrm>
            <a:off x="4739781" y="3585812"/>
            <a:ext cx="7452219" cy="3272188"/>
            <a:chOff x="4739781" y="3585812"/>
            <a:chExt cx="7452219" cy="3272188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A9DAE172-1ED8-A55C-48B3-205688F70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2514" y="4013377"/>
              <a:ext cx="6699486" cy="2844623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C777228E-EC08-1695-9B02-D2BC45EB84D6}"/>
                </a:ext>
              </a:extLst>
            </p:cNvPr>
            <p:cNvSpPr/>
            <p:nvPr/>
          </p:nvSpPr>
          <p:spPr>
            <a:xfrm>
              <a:off x="4739781" y="4013377"/>
              <a:ext cx="1104550" cy="284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AE8445B0-C545-22B0-6C1C-BDC293C03599}"/>
                </a:ext>
              </a:extLst>
            </p:cNvPr>
            <p:cNvSpPr/>
            <p:nvPr/>
          </p:nvSpPr>
          <p:spPr>
            <a:xfrm>
              <a:off x="5292056" y="3585812"/>
              <a:ext cx="4453856" cy="10784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3" name="Rectangle 1">
            <a:extLst>
              <a:ext uri="{FF2B5EF4-FFF2-40B4-BE49-F238E27FC236}">
                <a16:creationId xmlns:a16="http://schemas.microsoft.com/office/drawing/2014/main" id="{F5941C80-7D64-E605-2A84-05CE37AC00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1540" y="2430602"/>
            <a:ext cx="10515600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Quick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Sort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(Eficiência </a:t>
            </a:r>
            <a:r>
              <a:rPr kumimoji="0" lang="pt-BR" altLang="pt-BR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In-Place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Menor tempo absoluto observado (~0.09s).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Evita alocações dinâmicas e maximiza localidade de cache.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Estratégia Adotada: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Pivô central mitigou o pior caso de O(n</a:t>
            </a:r>
            <a:r>
              <a:rPr kumimoji="0" lang="pt-BR" altLang="pt-BR" sz="20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), mantendo a performance log-linear. Contraponto: Algoritmo instável.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400" b="1" dirty="0">
                <a:latin typeface="Google Sans Text"/>
              </a:rPr>
              <a:t>Merge </a:t>
            </a:r>
            <a:r>
              <a:rPr lang="pt-BR" altLang="pt-BR" sz="2400" b="1" dirty="0" err="1">
                <a:latin typeface="Google Sans Text"/>
              </a:rPr>
              <a:t>Sort</a:t>
            </a:r>
            <a:r>
              <a:rPr lang="pt-BR" altLang="pt-BR" sz="2400" b="1" dirty="0">
                <a:latin typeface="Google Sans Text"/>
              </a:rPr>
              <a:t> (Estabilidade e Determinismo):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latin typeface="Google Sans Text"/>
              </a:rPr>
              <a:t> Desempenho assintótico de O(n log n) em todos os cenários analisados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latin typeface="Google Sans Text"/>
              </a:rPr>
              <a:t> </a:t>
            </a:r>
            <a:r>
              <a:rPr lang="pt-BR" altLang="pt-BR" sz="2000" b="1" dirty="0">
                <a:latin typeface="Google Sans Text"/>
              </a:rPr>
              <a:t>Vantagem Crítica: </a:t>
            </a:r>
            <a:r>
              <a:rPr lang="pt-BR" altLang="pt-BR" sz="2000" dirty="0">
                <a:latin typeface="Google Sans Text"/>
              </a:rPr>
              <a:t>Estabilidade (preserva a ordem de chaves idênticas)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latin typeface="Google Sans Text"/>
              </a:rPr>
              <a:t> </a:t>
            </a:r>
            <a:r>
              <a:rPr lang="pt-BR" altLang="pt-BR" sz="2000" b="1" dirty="0">
                <a:latin typeface="Google Sans Text"/>
              </a:rPr>
              <a:t>Contraponto: </a:t>
            </a:r>
            <a:r>
              <a:rPr lang="pt-BR" altLang="pt-BR" sz="2000" dirty="0">
                <a:latin typeface="Google Sans Text"/>
              </a:rPr>
              <a:t>Exige alocação de memória extra na ordem de O(n).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4FD7F5B0-0E32-0BA5-2EAD-985228D47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60" y="1162843"/>
            <a:ext cx="10515600" cy="1325563"/>
          </a:xfrm>
        </p:spPr>
        <p:txBody>
          <a:bodyPr>
            <a:normAutofit/>
          </a:bodyPr>
          <a:lstStyle/>
          <a:p>
            <a:r>
              <a:rPr lang="pt-BR" sz="2800" b="1" dirty="0">
                <a:latin typeface="+mn-lt"/>
              </a:rPr>
              <a:t>Análise Arquitetural: Divisão e Conquista - 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O(n</a:t>
            </a:r>
            <a:r>
              <a:rPr kumimoji="0" lang="pt-BR" altLang="pt-BR" sz="28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vs. 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O(n log n</a:t>
            </a:r>
            <a:r>
              <a:rPr lang="pt-BR" altLang="pt-BR" sz="2800" b="1" dirty="0">
                <a:latin typeface="Arial" panose="020B0604020202020204" pitchFamily="34" charset="0"/>
              </a:rPr>
              <a:t>)</a:t>
            </a:r>
            <a:endParaRPr lang="pt-BR" sz="28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9490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26535-FB19-E6BD-8062-3639E91C0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CB36F6C-2408-85A8-92D7-513B26AF5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98060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DA60E349-63E6-2906-51B0-425F847DE722}"/>
              </a:ext>
            </a:extLst>
          </p:cNvPr>
          <p:cNvGrpSpPr/>
          <p:nvPr/>
        </p:nvGrpSpPr>
        <p:grpSpPr>
          <a:xfrm>
            <a:off x="4739781" y="3585812"/>
            <a:ext cx="7452219" cy="3272188"/>
            <a:chOff x="4739781" y="3585812"/>
            <a:chExt cx="7452219" cy="3272188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446EB5F3-BBDC-7AAB-B349-2E36C8C159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2514" y="4013377"/>
              <a:ext cx="6699486" cy="2844623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E2EF6531-15C5-5472-F867-A3F5345ABB81}"/>
                </a:ext>
              </a:extLst>
            </p:cNvPr>
            <p:cNvSpPr/>
            <p:nvPr/>
          </p:nvSpPr>
          <p:spPr>
            <a:xfrm>
              <a:off x="4739781" y="4013377"/>
              <a:ext cx="1104550" cy="284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0389689D-76E3-EA5B-935A-00EA4359E2CF}"/>
                </a:ext>
              </a:extLst>
            </p:cNvPr>
            <p:cNvSpPr/>
            <p:nvPr/>
          </p:nvSpPr>
          <p:spPr>
            <a:xfrm>
              <a:off x="5292056" y="3585812"/>
              <a:ext cx="4453856" cy="10784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3" name="Rectangle 1">
            <a:extLst>
              <a:ext uri="{FF2B5EF4-FFF2-40B4-BE49-F238E27FC236}">
                <a16:creationId xmlns:a16="http://schemas.microsoft.com/office/drawing/2014/main" id="{C52BA4C7-0F04-69A4-07E7-9F09201EF5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50682"/>
            <a:ext cx="10515600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Invariância do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Selection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Sort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Preso na complexidade </a:t>
            </a: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ɵ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(n</a:t>
            </a:r>
            <a:r>
              <a:rPr kumimoji="0" lang="pt-BR" altLang="pt-BR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), não se beneficia de vetores ordenados (tempo constante nos 3 cenários)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 Comportamento Adaptativo do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Insertion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Sort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Atinge o limite inferior garantido de </a:t>
            </a:r>
            <a:r>
              <a:rPr kumimoji="0" lang="el-G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(n) no melhor caso (~0.00s), mas sofre severa punição geométrica no pior caso.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400" b="1" dirty="0">
                <a:latin typeface="Google Sans Text"/>
              </a:rPr>
              <a:t>Overhead do Interpretador </a:t>
            </a:r>
            <a:r>
              <a:rPr lang="pt-BR" altLang="pt-BR" sz="2400" dirty="0">
                <a:latin typeface="Google Sans Text"/>
              </a:rPr>
              <a:t>(</a:t>
            </a:r>
            <a:r>
              <a:rPr lang="pt-BR" altLang="pt-BR" sz="2400" dirty="0" err="1">
                <a:latin typeface="Google Sans Text"/>
              </a:rPr>
              <a:t>CPython</a:t>
            </a:r>
            <a:r>
              <a:rPr lang="pt-BR" altLang="pt-BR" sz="2400" dirty="0">
                <a:latin typeface="Google Sans Text"/>
              </a:rPr>
              <a:t>):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latin typeface="Google Sans Text"/>
              </a:rPr>
              <a:t> Os tempos brutos refletem não apenas o algoritmo, mas as limitações da linguagem: tipagem dinâmica, custo do </a:t>
            </a:r>
            <a:r>
              <a:rPr lang="pt-BR" altLang="pt-BR" sz="2000" i="1" dirty="0" err="1">
                <a:latin typeface="Google Sans Text"/>
              </a:rPr>
              <a:t>call</a:t>
            </a:r>
            <a:r>
              <a:rPr lang="pt-BR" altLang="pt-BR" sz="2000" i="1" dirty="0">
                <a:latin typeface="Google Sans Text"/>
              </a:rPr>
              <a:t> </a:t>
            </a:r>
            <a:r>
              <a:rPr lang="pt-BR" altLang="pt-BR" sz="2000" i="1" dirty="0" err="1">
                <a:latin typeface="Google Sans Text"/>
              </a:rPr>
              <a:t>stack</a:t>
            </a:r>
            <a:r>
              <a:rPr lang="pt-BR" altLang="pt-BR" sz="2000" i="1" dirty="0">
                <a:latin typeface="Google Sans Text"/>
              </a:rPr>
              <a:t> </a:t>
            </a:r>
            <a:r>
              <a:rPr lang="pt-BR" altLang="pt-BR" sz="2000" dirty="0">
                <a:latin typeface="Google Sans Text"/>
              </a:rPr>
              <a:t>(recursão profunda) e laços interpretados.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latin typeface="Google Sans Text"/>
              </a:rPr>
              <a:t> O </a:t>
            </a:r>
            <a:r>
              <a:rPr lang="pt-BR" altLang="pt-BR" sz="2000" dirty="0" err="1">
                <a:latin typeface="Google Sans Text"/>
              </a:rPr>
              <a:t>list.sort</a:t>
            </a:r>
            <a:r>
              <a:rPr lang="pt-BR" altLang="pt-BR" sz="2000" dirty="0">
                <a:latin typeface="Google Sans Text"/>
              </a:rPr>
              <a:t>() nativo (</a:t>
            </a:r>
            <a:r>
              <a:rPr lang="pt-BR" altLang="pt-BR" sz="2000" dirty="0" err="1">
                <a:latin typeface="Google Sans Text"/>
              </a:rPr>
              <a:t>Timsort</a:t>
            </a:r>
            <a:r>
              <a:rPr lang="pt-BR" altLang="pt-BR" sz="2000" dirty="0">
                <a:latin typeface="Google Sans Text"/>
              </a:rPr>
              <a:t>) é exponencialmente mais rápido por ser compilado em C, delegando operações diretamente ao hardware.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6869FB9E-D0C9-D809-850E-B3E4A131F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60" y="1162843"/>
            <a:ext cx="10515600" cy="1325563"/>
          </a:xfrm>
        </p:spPr>
        <p:txBody>
          <a:bodyPr>
            <a:normAutofit/>
          </a:bodyPr>
          <a:lstStyle/>
          <a:p>
            <a:r>
              <a:rPr lang="pt-BR" sz="2800" b="1" dirty="0">
                <a:latin typeface="+mn-lt"/>
              </a:rPr>
              <a:t>Reflexos da Teoria na Prática e Limitações do Ambiente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986490-0933-6260-C084-393D07EFB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1582"/>
            <a:ext cx="1847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068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95F87-6B60-EE45-2914-BAD7CAF0D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B30A8A3-7ADD-27EF-13B1-FF41BB6FE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98060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CF4293E8-8854-17B8-8D27-406A19442340}"/>
              </a:ext>
            </a:extLst>
          </p:cNvPr>
          <p:cNvGrpSpPr/>
          <p:nvPr/>
        </p:nvGrpSpPr>
        <p:grpSpPr>
          <a:xfrm>
            <a:off x="4739781" y="3585812"/>
            <a:ext cx="7452219" cy="3272188"/>
            <a:chOff x="4739781" y="3585812"/>
            <a:chExt cx="7452219" cy="3272188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56DF490E-1459-1718-A3A3-2C295272A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2514" y="4013377"/>
              <a:ext cx="6699486" cy="2844623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F037CCE3-FCCF-12FF-E95C-10BDAFC4BCE0}"/>
                </a:ext>
              </a:extLst>
            </p:cNvPr>
            <p:cNvSpPr/>
            <p:nvPr/>
          </p:nvSpPr>
          <p:spPr>
            <a:xfrm>
              <a:off x="4739781" y="4013377"/>
              <a:ext cx="1104550" cy="284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837FD02B-D0E3-74AF-79DA-0803F43558A7}"/>
                </a:ext>
              </a:extLst>
            </p:cNvPr>
            <p:cNvSpPr/>
            <p:nvPr/>
          </p:nvSpPr>
          <p:spPr>
            <a:xfrm>
              <a:off x="5292056" y="3585812"/>
              <a:ext cx="4453856" cy="10784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3" name="Rectangle 1">
            <a:extLst>
              <a:ext uri="{FF2B5EF4-FFF2-40B4-BE49-F238E27FC236}">
                <a16:creationId xmlns:a16="http://schemas.microsoft.com/office/drawing/2014/main" id="{30424B3E-156F-8EA6-2CA3-BC4E581209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48959"/>
            <a:ext cx="10515600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Validação Teórica: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Os experimentos corroboram a teoria matemática; algoritmos O(n</a:t>
            </a:r>
            <a:r>
              <a:rPr kumimoji="0" lang="pt-BR" altLang="pt-BR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sofrem degradação drástica em instâncias massivas.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 Escolha Pragmática: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decisão arquitetural não deve se basear apenas na classe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Big-O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mas exige a ponderação de: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pt-BR" altLang="pt-BR" sz="2000" b="1" dirty="0">
                <a:latin typeface="Google Sans Text"/>
              </a:rPr>
              <a:t>Estabilidade</a:t>
            </a:r>
            <a:r>
              <a:rPr lang="pt-BR" altLang="pt-BR" sz="2000" dirty="0">
                <a:latin typeface="Google Sans Text"/>
              </a:rPr>
              <a:t>: Preservação do histórico de dados.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pt-BR" altLang="pt-BR" sz="2000" b="1" dirty="0">
                <a:latin typeface="Google Sans Text"/>
              </a:rPr>
              <a:t>Complexidade Espacial</a:t>
            </a:r>
            <a:r>
              <a:rPr lang="pt-BR" altLang="pt-BR" sz="2000" dirty="0">
                <a:latin typeface="Google Sans Text"/>
              </a:rPr>
              <a:t>: Economia de memória x velocidade de processamento.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pt-BR" altLang="pt-BR" sz="2000" b="1" dirty="0">
                <a:latin typeface="Google Sans Text"/>
              </a:rPr>
              <a:t>Sensibilidade Topológica</a:t>
            </a:r>
            <a:r>
              <a:rPr lang="pt-BR" altLang="pt-BR" sz="2000" dirty="0">
                <a:latin typeface="Google Sans Text"/>
              </a:rPr>
              <a:t>: Comportamento diante da ordenação prévia dos dados.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endParaRPr lang="pt-BR" altLang="pt-BR" sz="2000" dirty="0">
              <a:latin typeface="Google Sans Text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pt-BR" altLang="pt-BR" sz="2400" b="1" dirty="0">
                <a:latin typeface="Google Sans Text"/>
              </a:rPr>
              <a:t>Síntese: </a:t>
            </a:r>
            <a:r>
              <a:rPr lang="pt-BR" altLang="pt-BR" sz="2400" dirty="0">
                <a:latin typeface="Google Sans Text"/>
              </a:rPr>
              <a:t>A análise formal de algoritmos é uma ferramenta pragmática e essencial para a construção de sistemas escaláveis e verdadeiramente otimizados.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B1E829A6-DEDD-FB0A-ECB6-BAFBC1D5E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60" y="1162843"/>
            <a:ext cx="10515600" cy="1325563"/>
          </a:xfrm>
        </p:spPr>
        <p:txBody>
          <a:bodyPr>
            <a:normAutofit/>
          </a:bodyPr>
          <a:lstStyle/>
          <a:p>
            <a:r>
              <a:rPr lang="pt-BR" sz="2800" b="1" dirty="0">
                <a:latin typeface="+mn-lt"/>
              </a:rPr>
              <a:t>Considerações Finais e Engenharia de Software</a:t>
            </a:r>
          </a:p>
        </p:txBody>
      </p:sp>
    </p:spTree>
    <p:extLst>
      <p:ext uri="{BB962C8B-B14F-4D97-AF65-F5344CB8AC3E}">
        <p14:creationId xmlns:p14="http://schemas.microsoft.com/office/powerpoint/2010/main" val="158680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A821D-BC74-0BE1-5793-E83689017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43B0D5C-918C-B8C8-8634-C0FCAE5CA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98060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A4F59FC4-2E12-33ED-A58A-5185D4BC8404}"/>
              </a:ext>
            </a:extLst>
          </p:cNvPr>
          <p:cNvGrpSpPr/>
          <p:nvPr/>
        </p:nvGrpSpPr>
        <p:grpSpPr>
          <a:xfrm>
            <a:off x="4739781" y="3585812"/>
            <a:ext cx="7452219" cy="3272188"/>
            <a:chOff x="4739781" y="3585812"/>
            <a:chExt cx="7452219" cy="3272188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608A94F9-F378-AD3E-D4FB-AA7D21EC1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2514" y="4013377"/>
              <a:ext cx="6699486" cy="2844623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A16330DC-FCBB-A2F0-F258-A30C0D27D03E}"/>
                </a:ext>
              </a:extLst>
            </p:cNvPr>
            <p:cNvSpPr/>
            <p:nvPr/>
          </p:nvSpPr>
          <p:spPr>
            <a:xfrm>
              <a:off x="4739781" y="4013377"/>
              <a:ext cx="1104550" cy="284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DBF0D5FF-EC27-7992-DBAF-8AD6C73A8A63}"/>
                </a:ext>
              </a:extLst>
            </p:cNvPr>
            <p:cNvSpPr/>
            <p:nvPr/>
          </p:nvSpPr>
          <p:spPr>
            <a:xfrm>
              <a:off x="5292056" y="3585812"/>
              <a:ext cx="4453856" cy="10784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98D7BEA0-501A-4B28-448A-9B5431A2C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60" y="1162843"/>
            <a:ext cx="10515600" cy="1325563"/>
          </a:xfrm>
        </p:spPr>
        <p:txBody>
          <a:bodyPr>
            <a:normAutofit/>
          </a:bodyPr>
          <a:lstStyle/>
          <a:p>
            <a:r>
              <a:rPr lang="pt-BR" sz="2800" b="1" dirty="0">
                <a:latin typeface="+mn-lt"/>
              </a:rPr>
              <a:t>Referências</a:t>
            </a:r>
          </a:p>
        </p:txBody>
      </p:sp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007345CD-40BF-AD9A-1C8D-BB16130D6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765" y="2278207"/>
            <a:ext cx="10913576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2000" dirty="0"/>
              <a:t>CORMEN, T. H.; LEISERSON, C. E.; RIVEST, R. L.; STEIN, C. </a:t>
            </a:r>
            <a:r>
              <a:rPr lang="pt-BR" sz="2000" b="1" dirty="0" err="1"/>
              <a:t>Introduction</a:t>
            </a:r>
            <a:r>
              <a:rPr lang="pt-BR" sz="2000" b="1" dirty="0"/>
              <a:t> </a:t>
            </a:r>
            <a:r>
              <a:rPr lang="pt-BR" sz="2000" b="1" dirty="0" err="1"/>
              <a:t>to</a:t>
            </a:r>
            <a:r>
              <a:rPr lang="pt-BR" sz="2000" b="1" dirty="0"/>
              <a:t> </a:t>
            </a:r>
            <a:r>
              <a:rPr lang="pt-BR" sz="2000" b="1" dirty="0" err="1"/>
              <a:t>Algorithms</a:t>
            </a:r>
            <a:r>
              <a:rPr lang="pt-BR" sz="2000" dirty="0"/>
              <a:t>. 4. ed. Cambridge: The MIT Press, 2015.</a:t>
            </a:r>
            <a:endParaRPr lang="pt-BR" sz="2000" b="0" dirty="0">
              <a:effectLst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t-BR" sz="2000" dirty="0"/>
              <a:t>KARUMANCHI, N. </a:t>
            </a:r>
            <a:r>
              <a:rPr lang="pt-BR" sz="2000" b="1" dirty="0"/>
              <a:t>Data </a:t>
            </a:r>
            <a:r>
              <a:rPr lang="pt-BR" sz="2000" b="1" dirty="0" err="1"/>
              <a:t>Structure</a:t>
            </a:r>
            <a:r>
              <a:rPr lang="pt-BR" sz="2000" b="1" dirty="0"/>
              <a:t> </a:t>
            </a:r>
            <a:r>
              <a:rPr lang="pt-BR" sz="2000" b="1" dirty="0" err="1"/>
              <a:t>and</a:t>
            </a:r>
            <a:r>
              <a:rPr lang="pt-BR" sz="2000" b="1" dirty="0"/>
              <a:t> </a:t>
            </a:r>
            <a:r>
              <a:rPr lang="pt-BR" sz="2000" b="1" dirty="0" err="1"/>
              <a:t>Algorithmic</a:t>
            </a:r>
            <a:r>
              <a:rPr lang="pt-BR" sz="2000" b="1" dirty="0"/>
              <a:t> </a:t>
            </a:r>
            <a:r>
              <a:rPr lang="pt-BR" sz="2000" b="1" dirty="0" err="1"/>
              <a:t>Thinking</a:t>
            </a:r>
            <a:r>
              <a:rPr lang="pt-BR" sz="2000" b="1" dirty="0"/>
              <a:t> </a:t>
            </a:r>
            <a:r>
              <a:rPr lang="pt-BR" sz="2000" b="1" dirty="0" err="1"/>
              <a:t>with</a:t>
            </a:r>
            <a:r>
              <a:rPr lang="pt-BR" sz="2000" b="1" dirty="0"/>
              <a:t> Python</a:t>
            </a:r>
            <a:r>
              <a:rPr lang="pt-BR" sz="2000" dirty="0"/>
              <a:t>. New York: </a:t>
            </a:r>
            <a:r>
              <a:rPr lang="pt-BR" sz="2000" dirty="0" err="1"/>
              <a:t>CareerMonk</a:t>
            </a:r>
            <a:r>
              <a:rPr lang="pt-BR" sz="2000" dirty="0"/>
              <a:t>, 2015.</a:t>
            </a:r>
            <a:endParaRPr lang="pt-BR" sz="2000" b="0" dirty="0">
              <a:effectLst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t-BR" sz="2000" dirty="0"/>
              <a:t>LEVITIN, A. V. </a:t>
            </a:r>
            <a:r>
              <a:rPr lang="pt-BR" sz="2000" b="1" dirty="0" err="1"/>
              <a:t>Introduction</a:t>
            </a:r>
            <a:r>
              <a:rPr lang="pt-BR" sz="2000" b="1" dirty="0"/>
              <a:t> </a:t>
            </a:r>
            <a:r>
              <a:rPr lang="pt-BR" sz="2000" b="1" dirty="0" err="1"/>
              <a:t>to</a:t>
            </a:r>
            <a:r>
              <a:rPr lang="pt-BR" sz="2000" b="1" dirty="0"/>
              <a:t> </a:t>
            </a:r>
            <a:r>
              <a:rPr lang="pt-BR" sz="2000" b="1" dirty="0" err="1"/>
              <a:t>the</a:t>
            </a:r>
            <a:r>
              <a:rPr lang="pt-BR" sz="2000" b="1" dirty="0"/>
              <a:t> Design </a:t>
            </a:r>
            <a:r>
              <a:rPr lang="pt-BR" sz="2000" b="1" dirty="0" err="1"/>
              <a:t>and</a:t>
            </a:r>
            <a:r>
              <a:rPr lang="pt-BR" sz="2000" b="1" dirty="0"/>
              <a:t> </a:t>
            </a:r>
            <a:r>
              <a:rPr lang="pt-BR" sz="2000" b="1" dirty="0" err="1"/>
              <a:t>Analysis</a:t>
            </a:r>
            <a:r>
              <a:rPr lang="pt-BR" sz="2000" b="1" dirty="0"/>
              <a:t> </a:t>
            </a:r>
            <a:r>
              <a:rPr lang="pt-BR" sz="2000" b="1" dirty="0" err="1"/>
              <a:t>of</a:t>
            </a:r>
            <a:r>
              <a:rPr lang="pt-BR" sz="2000" b="1" dirty="0"/>
              <a:t> </a:t>
            </a:r>
            <a:r>
              <a:rPr lang="pt-BR" sz="2000" b="1" dirty="0" err="1"/>
              <a:t>Algorithms</a:t>
            </a:r>
            <a:r>
              <a:rPr lang="pt-BR" sz="2000" dirty="0"/>
              <a:t>. New York: Addison-Wesley, 2002.</a:t>
            </a:r>
            <a:endParaRPr lang="pt-BR" sz="2000" b="0" dirty="0">
              <a:effectLst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sz="2000" dirty="0"/>
              <a:t>MOREIRA, Cândido. </a:t>
            </a:r>
            <a:r>
              <a:rPr lang="pt-BR" sz="2000" b="1" dirty="0"/>
              <a:t>Implementações e scripts experimentais do Projeto 1 – Algoritmos de Ordenação</a:t>
            </a:r>
            <a:r>
              <a:rPr lang="pt-BR" sz="2000" dirty="0"/>
              <a:t>. Repositório GitHub, 2026. Disponível em:</a:t>
            </a:r>
            <a:r>
              <a:rPr lang="pt-BR" sz="2000" dirty="0">
                <a:hlinkClick r:id="rId4"/>
              </a:rPr>
              <a:t> </a:t>
            </a:r>
            <a:r>
              <a:rPr lang="pt-BR" sz="2000" u="sng" dirty="0">
                <a:hlinkClick r:id="rId4"/>
              </a:rPr>
              <a:t>https://github.com/</a:t>
            </a:r>
            <a:r>
              <a:rPr lang="pt-BR" sz="2000" u="sng" dirty="0" err="1">
                <a:hlinkClick r:id="rId4"/>
              </a:rPr>
              <a:t>candidomor</a:t>
            </a:r>
            <a:r>
              <a:rPr lang="pt-BR" sz="2000" u="sng" dirty="0">
                <a:hlinkClick r:id="rId4"/>
              </a:rPr>
              <a:t>/Mestrado-Algoritmos-Projeto1/</a:t>
            </a:r>
            <a:r>
              <a:rPr lang="pt-BR" sz="2000" u="sng" dirty="0" err="1">
                <a:hlinkClick r:id="rId4"/>
              </a:rPr>
              <a:t>tree</a:t>
            </a:r>
            <a:r>
              <a:rPr lang="pt-BR" sz="2000" u="sng" dirty="0">
                <a:hlinkClick r:id="rId4"/>
              </a:rPr>
              <a:t>/</a:t>
            </a:r>
            <a:r>
              <a:rPr lang="pt-BR" sz="2000" u="sng" dirty="0" err="1">
                <a:hlinkClick r:id="rId4"/>
              </a:rPr>
              <a:t>main</a:t>
            </a:r>
            <a:r>
              <a:rPr lang="pt-BR" sz="2000" u="sng" dirty="0">
                <a:hlinkClick r:id="rId4"/>
              </a:rPr>
              <a:t>/Principal</a:t>
            </a:r>
            <a:r>
              <a:rPr lang="pt-BR" sz="2000" dirty="0"/>
              <a:t>. Acesso em: 8 mar. 2026.</a:t>
            </a:r>
          </a:p>
        </p:txBody>
      </p:sp>
    </p:spTree>
    <p:extLst>
      <p:ext uri="{BB962C8B-B14F-4D97-AF65-F5344CB8AC3E}">
        <p14:creationId xmlns:p14="http://schemas.microsoft.com/office/powerpoint/2010/main" val="21838482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712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Google Sans Text</vt:lpstr>
      <vt:lpstr>Times New Roman</vt:lpstr>
      <vt:lpstr>Tema do Office</vt:lpstr>
      <vt:lpstr>Projeto 1 - Métodos de Ordenação Mestrado Profissional em Computação Aplicada – Mackenzie Disciplina – Algoritmos e Programação </vt:lpstr>
      <vt:lpstr>Projeto 01 - Métodos de Ordenação: Análise Empírica vs. Assintótica</vt:lpstr>
      <vt:lpstr>Metodologia Experimental</vt:lpstr>
      <vt:lpstr>Resultados de Estresse (Carga de 100.000 elementos)</vt:lpstr>
      <vt:lpstr>Apresentação do PowerPoint</vt:lpstr>
      <vt:lpstr>Análise Arquitetural: Divisão e Conquista - O(n2) vs. O(n log n)</vt:lpstr>
      <vt:lpstr>Reflexos da Teoria na Prática e Limitações do Ambiente</vt:lpstr>
      <vt:lpstr>Considerações Finais e Engenharia de Software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Cândido Moreira</dc:creator>
  <cp:lastModifiedBy>Cândido Moreira</cp:lastModifiedBy>
  <cp:revision>5</cp:revision>
  <dcterms:created xsi:type="dcterms:W3CDTF">2026-03-08T20:43:30Z</dcterms:created>
  <dcterms:modified xsi:type="dcterms:W3CDTF">2026-03-08T23:43:45Z</dcterms:modified>
</cp:coreProperties>
</file>